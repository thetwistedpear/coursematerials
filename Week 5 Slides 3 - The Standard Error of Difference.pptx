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tags/tag6.xml" ContentType="application/vnd.openxmlformats-officedocument.presentationml.tags+xml"/>
  <Override PartName="/ppt/notesSlides/notesSlide9.xml" ContentType="application/vnd.openxmlformats-officedocument.presentationml.notesSlide+xml"/>
  <Override PartName="/ppt/tags/tag7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9" r:id="rId5"/>
    <p:sldId id="270" r:id="rId6"/>
    <p:sldId id="259" r:id="rId7"/>
    <p:sldId id="268" r:id="rId8"/>
    <p:sldId id="261" r:id="rId9"/>
    <p:sldId id="260" r:id="rId10"/>
    <p:sldId id="262" r:id="rId11"/>
    <p:sldId id="265" r:id="rId12"/>
    <p:sldId id="263" r:id="rId13"/>
    <p:sldId id="266" r:id="rId14"/>
    <p:sldId id="267" r:id="rId15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22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–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–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7310" autoAdjust="0"/>
    <p:restoredTop sz="86395"/>
  </p:normalViewPr>
  <p:slideViewPr>
    <p:cSldViewPr snapToGrid="0">
      <p:cViewPr>
        <p:scale>
          <a:sx n="65" d="100"/>
          <a:sy n="65" d="100"/>
        </p:scale>
        <p:origin x="680" y="11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OpenDyslexic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OpenDyslexic" pitchFamily="2" charset="0"/>
              </a:defRPr>
            </a:lvl1pPr>
          </a:lstStyle>
          <a:p>
            <a:fld id="{FC05BD3B-0C19-BA43-9305-A667C7C44AA1}" type="datetimeFigureOut">
              <a:rPr lang="en-US" smtClean="0"/>
              <a:pPr/>
              <a:t>1/24/25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OpenDyslexic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OpenDyslexic" pitchFamily="2" charset="0"/>
              </a:defRPr>
            </a:lvl1pPr>
          </a:lstStyle>
          <a:p>
            <a:fld id="{A9DF9A52-E7AA-274E-BC5F-4B9F64811A9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355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OpenDyslexic" pitchFamily="2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OpenDyslexic" pitchFamily="2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OpenDyslexic" pitchFamily="2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OpenDyslexic" pitchFamily="2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OpenDyslexic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2400C-283A-1E41-88F1-C9A731C0995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189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2400C-283A-1E41-88F1-C9A731C0995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702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2400C-283A-1E41-88F1-C9A731C0995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131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2400C-283A-1E41-88F1-C9A731C0995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5947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2400C-283A-1E41-88F1-C9A731C0995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364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2400C-283A-1E41-88F1-C9A731C0995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023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2400C-283A-1E41-88F1-C9A731C0995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3530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2400C-283A-1E41-88F1-C9A731C0995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2854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2400C-283A-1E41-88F1-C9A731C0995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573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2400C-283A-1E41-88F1-C9A731C0995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7800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2400C-283A-1E41-88F1-C9A731C0995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073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2400C-283A-1E41-88F1-C9A731C0995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565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ircular object with white lines&#10;&#10;Description automatically generated">
            <a:extLst>
              <a:ext uri="{FF2B5EF4-FFF2-40B4-BE49-F238E27FC236}">
                <a16:creationId xmlns:a16="http://schemas.microsoft.com/office/drawing/2014/main" id="{4A7C4AB4-2226-877A-A741-9660D64936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51" y="92839"/>
            <a:ext cx="4103670" cy="397014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7BD72D-4468-42DA-AAD4-824AF1E958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0579" y="2353847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F7200C-8136-4D89-AE4E-DF01E080D34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770579" y="5017382"/>
            <a:ext cx="9144000" cy="117031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Oliver Clark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6EE59-C605-4FC4-8DCE-2DCA4DBBD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E1341-B99E-4425-867C-20CDAA12EFFF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EBE32-E7D3-4A97-ADE8-C618F2030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A4E75-6A35-40B9-893D-78B43606C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07E87-4409-4E3F-A74A-A02CB7A223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930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03BA7-E404-4B33-AD54-0074EA038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4E91D-9017-46E9-9BF2-C4F948DC6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52448-9514-43B9-BC41-887E6AFEE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E1341-B99E-4425-867C-20CDAA12EFFF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E6A80-EA59-47AD-A41E-538B33576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B3234-7D2E-46F7-8327-202B978CD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07E87-4409-4E3F-A74A-A02CB7A223E8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A circular object with white lines&#10;&#10;Description automatically generated">
            <a:extLst>
              <a:ext uri="{FF2B5EF4-FFF2-40B4-BE49-F238E27FC236}">
                <a16:creationId xmlns:a16="http://schemas.microsoft.com/office/drawing/2014/main" id="{ACB5BE63-1070-5828-DB08-80EF18AE26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4156" y="211561"/>
            <a:ext cx="1687601" cy="163269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470518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9D04E-4539-4D3B-BCEA-45CBDC7EC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6C06E-DDFF-4493-A23F-D8899A325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E6A4D-5164-4501-9B9F-1150C2B2C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E1341-B99E-4425-867C-20CDAA12EFFF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17E47-1A39-4249-A872-5EE8C05A0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E793F-7595-433B-AD8D-C1395B11E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07E87-4409-4E3F-A74A-A02CB7A223E8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A circular object with white lines&#10;&#10;Description automatically generated">
            <a:extLst>
              <a:ext uri="{FF2B5EF4-FFF2-40B4-BE49-F238E27FC236}">
                <a16:creationId xmlns:a16="http://schemas.microsoft.com/office/drawing/2014/main" id="{78A8D8A8-3760-E72E-4A0B-F6DD81A701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4156" y="211561"/>
            <a:ext cx="1687601" cy="163269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49574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72C60-3B53-43A2-BD19-80ECB6830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237BF-BB59-4B96-B97F-C1872A23E2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9A6DDE-EE83-453D-B43C-FE29E12397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C7E41-CC20-4EF1-8F66-66F2AFF16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E1341-B99E-4425-867C-20CDAA12EFFF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6C11F-44D3-46E2-9EFD-DD21308EB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5C4CAE-B5D7-4649-A496-09C3918A7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07E87-4409-4E3F-A74A-A02CB7A223E8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 descr="A circular object with white lines&#10;&#10;Description automatically generated">
            <a:extLst>
              <a:ext uri="{FF2B5EF4-FFF2-40B4-BE49-F238E27FC236}">
                <a16:creationId xmlns:a16="http://schemas.microsoft.com/office/drawing/2014/main" id="{680EB741-5C9E-C01B-5510-C578F2AAA4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4156" y="211561"/>
            <a:ext cx="1687601" cy="163269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877481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54559-5BBF-4738-B3B9-D842DF691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485661-AD42-4BA1-8574-622AB2310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7D0CB3-C366-4197-B185-903F343FAD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D84F56-CD47-4BD6-9DAF-DA190A352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2F6631-47C6-4377-86A9-5454547555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8FCF21-BE5A-4BA4-87FD-101182610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E1341-B99E-4425-867C-20CDAA12EFFF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959CDD-4F0F-4047-B958-E3E9E1610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812010-94B5-45F2-A10A-F7F98236B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07E87-4409-4E3F-A74A-A02CB7A223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3004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AFBE3-AA76-486B-A0E7-9C1214F6E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C833AE-1C45-4F61-9A10-E73F37D96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E1341-B99E-4425-867C-20CDAA12EFFF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628810-CB23-4E4F-8FDC-C3C0AAC1C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DE41A-F878-481B-8321-7D5C5E1A2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07E87-4409-4E3F-A74A-A02CB7A223E8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 descr="A circular object with white lines&#10;&#10;Description automatically generated">
            <a:extLst>
              <a:ext uri="{FF2B5EF4-FFF2-40B4-BE49-F238E27FC236}">
                <a16:creationId xmlns:a16="http://schemas.microsoft.com/office/drawing/2014/main" id="{5A1DFD74-A80F-910F-0704-A344DE9BC9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4156" y="211561"/>
            <a:ext cx="1687601" cy="163269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147695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423B54-0818-42D3-A18F-1044E2854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E1341-B99E-4425-867C-20CDAA12EFFF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E074FD-1BD2-4C54-A702-61DBF9CD4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C3D79-B06A-4B4A-9782-4B51E6367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07E87-4409-4E3F-A74A-A02CB7A223E8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4" descr="A circular object with white lines&#10;&#10;Description automatically generated">
            <a:extLst>
              <a:ext uri="{FF2B5EF4-FFF2-40B4-BE49-F238E27FC236}">
                <a16:creationId xmlns:a16="http://schemas.microsoft.com/office/drawing/2014/main" id="{CE17AF69-3FD1-31D2-193A-153C422533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4156" y="211561"/>
            <a:ext cx="1687601" cy="163269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508911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59BE6-FB20-4BD5-B673-EEC9EED80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8026810" cy="131402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24033-DAA2-477E-B89E-87D1BEED4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6400" y="1984376"/>
            <a:ext cx="5953999" cy="415882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530806-A187-4FD1-B6E1-ABAD11EDB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77D340-DB2B-4962-893F-8FBDE2070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E1341-B99E-4425-867C-20CDAA12EFFF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47502-31F9-495F-8D6F-E4E74AF23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D39CF9-D98F-47CB-B740-350B02F45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07E87-4409-4E3F-A74A-A02CB7A223E8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 descr="A circular object with white lines&#10;&#10;Description automatically generated">
            <a:extLst>
              <a:ext uri="{FF2B5EF4-FFF2-40B4-BE49-F238E27FC236}">
                <a16:creationId xmlns:a16="http://schemas.microsoft.com/office/drawing/2014/main" id="{27833AAA-54E0-8712-78E6-30EDB549AE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4156" y="211561"/>
            <a:ext cx="1687601" cy="163269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804987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D2FE2-2354-4F01-8978-A88CE6EA7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D2C77B-BA2E-4DE3-BB24-A0997ADEA7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715784"/>
            <a:ext cx="5265630" cy="414526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07FD6E-B79E-4B72-AA4D-E981A123D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9D6E00-9933-4D24-B3E2-A0855E641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E1341-B99E-4425-867C-20CDAA12EFFF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78DC2C-D2BE-4909-BD59-1844F390C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3754A0-D6B5-4310-AB22-66B0F59E4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07E87-4409-4E3F-A74A-A02CB7A223E8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 descr="A circular object with white lines&#10;&#10;Description automatically generated">
            <a:extLst>
              <a:ext uri="{FF2B5EF4-FFF2-40B4-BE49-F238E27FC236}">
                <a16:creationId xmlns:a16="http://schemas.microsoft.com/office/drawing/2014/main" id="{343C1C28-31FC-7DFF-7C65-AE518C998D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4156" y="211561"/>
            <a:ext cx="1687601" cy="163269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50594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FA6A8-1B67-4290-B5EF-E1E9EA5DF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72DF21-83D0-4DEF-905D-B307033EC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56E0C-4F9C-4774-944E-4291C49E9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E1341-B99E-4425-867C-20CDAA12EFFF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4483D-D8C5-4C6A-9C2D-8AA2CD0E9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FE050-EF35-4019-A575-5B29875EA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07E87-4409-4E3F-A74A-A02CB7A223E8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A circular object with white lines&#10;&#10;Description automatically generated">
            <a:extLst>
              <a:ext uri="{FF2B5EF4-FFF2-40B4-BE49-F238E27FC236}">
                <a16:creationId xmlns:a16="http://schemas.microsoft.com/office/drawing/2014/main" id="{C3FD54C5-2E84-AC4F-D304-9CF1B97A4E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4156" y="211561"/>
            <a:ext cx="1687601" cy="163269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85096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14797E-40C8-4F6D-8FB3-D2595A23D1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32E659-1E59-4639-8A0E-E5AC143820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B94A8-07B0-4094-B09E-91BBBA8C0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E1341-B99E-4425-867C-20CDAA12EFFF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D45F6-1CFF-4F0B-9BB5-99BF1DAC0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23458-4002-4BBA-A15F-08F248305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07E87-4409-4E3F-A74A-A02CB7A223E8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A circular object with white lines&#10;&#10;Description automatically generated">
            <a:extLst>
              <a:ext uri="{FF2B5EF4-FFF2-40B4-BE49-F238E27FC236}">
                <a16:creationId xmlns:a16="http://schemas.microsoft.com/office/drawing/2014/main" id="{07874D33-BDDE-4404-C30F-4E518184D9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4156" y="211561"/>
            <a:ext cx="1687601" cy="163269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522016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204C48-90AD-4082-A973-54F3AFF16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04DC4-4134-40A9-9E9A-B2D6C86F8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A872A-9D63-4359-9E00-7DC5351026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OpenDyslexic" pitchFamily="2" charset="0"/>
              </a:defRPr>
            </a:lvl1pPr>
          </a:lstStyle>
          <a:p>
            <a:fld id="{FF5E1341-B99E-4425-867C-20CDAA12EFFF}" type="datetimeFigureOut">
              <a:rPr lang="en-GB" smtClean="0"/>
              <a:pPr/>
              <a:t>24/01/2025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363D1-1F10-41E8-B8F8-0BE1A2402B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OpenDyslexic" pitchFamily="2" charset="0"/>
              </a:defRPr>
            </a:lvl1pPr>
          </a:lstStyle>
          <a:p>
            <a:r>
              <a:rPr lang="en-GB" dirty="0"/>
              <a:t>Psychological Measurement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0BB29-C30B-4E91-826A-CE834FFA3F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OpenDyslexic" pitchFamily="2" charset="0"/>
              </a:defRPr>
            </a:lvl1pPr>
          </a:lstStyle>
          <a:p>
            <a:fld id="{56307E87-4409-4E3F-A74A-A02CB7A223E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67995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OpenDyslexic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OpenDyslexic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OpenDyslexic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OpenDyslexic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OpenDyslexic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OpenDyslexic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02B37-2E35-9740-968B-421C1363B8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0112" y="3003667"/>
            <a:ext cx="8487295" cy="2286000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The Standard Error of Difference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B5C72F-DE8D-D649-A619-A5EBE83350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3760" y="5619403"/>
            <a:ext cx="4572000" cy="997528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Dr Oliver Clark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BB7EC6-E79B-497D-9892-87F265076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472" r="2" b="2"/>
          <a:stretch/>
        </p:blipFill>
        <p:spPr>
          <a:xfrm>
            <a:off x="-8" y="4023360"/>
            <a:ext cx="2766189" cy="2834625"/>
          </a:xfrm>
          <a:custGeom>
            <a:avLst/>
            <a:gdLst/>
            <a:ahLst/>
            <a:cxnLst/>
            <a:rect l="l" t="t" r="r" b="b"/>
            <a:pathLst>
              <a:path w="5948805" h="6095979">
                <a:moveTo>
                  <a:pt x="1573832" y="765"/>
                </a:moveTo>
                <a:cubicBezTo>
                  <a:pt x="1940190" y="-10734"/>
                  <a:pt x="2329345" y="109280"/>
                  <a:pt x="2734663" y="238687"/>
                </a:cubicBezTo>
                <a:cubicBezTo>
                  <a:pt x="4118244" y="680647"/>
                  <a:pt x="5296697" y="1302752"/>
                  <a:pt x="5668316" y="3639516"/>
                </a:cubicBezTo>
                <a:cubicBezTo>
                  <a:pt x="5788298" y="4393559"/>
                  <a:pt x="5890546" y="5142244"/>
                  <a:pt x="5937022" y="5865869"/>
                </a:cubicBezTo>
                <a:lnTo>
                  <a:pt x="5948805" y="6095979"/>
                </a:lnTo>
                <a:lnTo>
                  <a:pt x="0" y="6095979"/>
                </a:lnTo>
                <a:lnTo>
                  <a:pt x="0" y="1621672"/>
                </a:lnTo>
                <a:lnTo>
                  <a:pt x="36310" y="1518814"/>
                </a:lnTo>
                <a:cubicBezTo>
                  <a:pt x="109805" y="1321982"/>
                  <a:pt x="192755" y="1133640"/>
                  <a:pt x="287891" y="956872"/>
                </a:cubicBezTo>
                <a:cubicBezTo>
                  <a:pt x="669453" y="247734"/>
                  <a:pt x="1102800" y="15549"/>
                  <a:pt x="1573832" y="76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889400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3DEF2-373F-C54A-B01B-999DB53F9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Video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D7429-F4A2-B343-B4CD-2E2FE653F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is a difference a difference?</a:t>
            </a:r>
          </a:p>
          <a:p>
            <a:r>
              <a:rPr lang="en-US" dirty="0"/>
              <a:t>Comparing scores on different measures</a:t>
            </a:r>
          </a:p>
          <a:p>
            <a:r>
              <a:rPr lang="en-US" dirty="0"/>
              <a:t>Comparing scores on the same measure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831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3DEF2-373F-C54A-B01B-999DB53F9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is a difference a difference?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D99BAEA-E0C3-6946-B876-376CC0FC2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Candidate 1 = 5.4</a:t>
            </a:r>
          </a:p>
          <a:p>
            <a:r>
              <a:rPr lang="en-US" dirty="0"/>
              <a:t>Candidate 2 = 5.6</a:t>
            </a:r>
          </a:p>
        </p:txBody>
      </p:sp>
    </p:spTree>
    <p:extLst>
      <p:ext uri="{BB962C8B-B14F-4D97-AF65-F5344CB8AC3E}">
        <p14:creationId xmlns:p14="http://schemas.microsoft.com/office/powerpoint/2010/main" val="1912541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4CBE951-41A6-574B-A3BF-8D8CE3B2A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67776" y="1727200"/>
            <a:ext cx="5033324" cy="4635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E3DEF2-373F-C54A-B01B-999DB53F9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is a difference a difference? -1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7CB4E496-67D6-FE4E-B92E-1FD4BFD289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1126" y="1825625"/>
            <a:ext cx="438974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B23D050-1CB9-E749-87B7-324D8AD51AAC}"/>
              </a:ext>
            </a:extLst>
          </p:cNvPr>
          <p:cNvSpPr txBox="1"/>
          <p:nvPr/>
        </p:nvSpPr>
        <p:spPr>
          <a:xfrm>
            <a:off x="3966852" y="1727200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Candidate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1FE6E5-C6F7-484C-BF04-7014ADDC5274}"/>
              </a:ext>
            </a:extLst>
          </p:cNvPr>
          <p:cNvSpPr txBox="1"/>
          <p:nvPr/>
        </p:nvSpPr>
        <p:spPr>
          <a:xfrm>
            <a:off x="5648302" y="2970768"/>
            <a:ext cx="1272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True score</a:t>
            </a:r>
          </a:p>
        </p:txBody>
      </p:sp>
      <p:pic>
        <p:nvPicPr>
          <p:cNvPr id="13" name="Picture 2" descr="Depiction of the 68%, 95%, 99% rule of the number of observations that fall between 1, 2, and 3 standard deviations or standard errors respectively.">
            <a:extLst>
              <a:ext uri="{FF2B5EF4-FFF2-40B4-BE49-F238E27FC236}">
                <a16:creationId xmlns:a16="http://schemas.microsoft.com/office/drawing/2014/main" id="{33CDDECA-623F-4449-B427-03DD1E796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1126" y="1825625"/>
            <a:ext cx="438974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3B8D82F-1731-2D45-A973-9BBAEAF5BCDC}"/>
              </a:ext>
            </a:extLst>
          </p:cNvPr>
          <p:cNvSpPr txBox="1"/>
          <p:nvPr/>
        </p:nvSpPr>
        <p:spPr>
          <a:xfrm>
            <a:off x="7069301" y="1764930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Candidate 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69748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4CBE951-41A6-574B-A3BF-8D8CE3B2A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67776" y="1727200"/>
            <a:ext cx="5033324" cy="4635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E3DEF2-373F-C54A-B01B-999DB53F9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is a difference a difference? -2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7CB4E496-67D6-FE4E-B92E-1FD4BFD289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1126" y="1825625"/>
            <a:ext cx="438974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B23D050-1CB9-E749-87B7-324D8AD51AAC}"/>
              </a:ext>
            </a:extLst>
          </p:cNvPr>
          <p:cNvSpPr txBox="1"/>
          <p:nvPr/>
        </p:nvSpPr>
        <p:spPr>
          <a:xfrm>
            <a:off x="3966852" y="1727200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Candidate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B8D82F-1731-2D45-A973-9BBAEAF5BCDC}"/>
              </a:ext>
            </a:extLst>
          </p:cNvPr>
          <p:cNvSpPr txBox="1"/>
          <p:nvPr/>
        </p:nvSpPr>
        <p:spPr>
          <a:xfrm>
            <a:off x="7069301" y="1764930"/>
            <a:ext cx="147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Candidate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1FE6E5-C6F7-484C-BF04-7014ADDC5274}"/>
              </a:ext>
            </a:extLst>
          </p:cNvPr>
          <p:cNvSpPr txBox="1"/>
          <p:nvPr/>
        </p:nvSpPr>
        <p:spPr>
          <a:xfrm>
            <a:off x="5648302" y="2970768"/>
            <a:ext cx="1272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True score</a:t>
            </a:r>
          </a:p>
        </p:txBody>
      </p:sp>
      <p:pic>
        <p:nvPicPr>
          <p:cNvPr id="17" name="Picture 2" descr="Depiction of two 'individuals' distribution of scores in terms of the the 68%, 95%, 99% rule ">
            <a:extLst>
              <a:ext uri="{FF2B5EF4-FFF2-40B4-BE49-F238E27FC236}">
                <a16:creationId xmlns:a16="http://schemas.microsoft.com/office/drawing/2014/main" id="{DD6536DA-2125-F64D-84D0-EC840E701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7078" y="1820882"/>
            <a:ext cx="438974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0332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3DEF2-373F-C54A-B01B-999DB53F9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is a difference a difference? -3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4DCD54-CA04-624B-9ECA-2664FB1BD8B2}"/>
                  </a:ext>
                </a:extLst>
              </p:cNvPr>
              <p:cNvSpPr txBox="1"/>
              <p:nvPr/>
            </p:nvSpPr>
            <p:spPr>
              <a:xfrm>
                <a:off x="3786793" y="2552393"/>
                <a:ext cx="5462393" cy="6193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𝑆𝐸𝐷𝑖𝑓𝑓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𝑆𝐸𝑀</m:t>
                          </m:r>
                          <m:r>
                            <a:rPr lang="en-GB" sz="3600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𝑆𝐸𝑀</m:t>
                          </m:r>
                          <m:r>
                            <a:rPr lang="en-GB" sz="3600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4DCD54-CA04-624B-9ECA-2664FB1BD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6793" y="2552393"/>
                <a:ext cx="5462393" cy="619337"/>
              </a:xfrm>
              <a:prstGeom prst="rect">
                <a:avLst/>
              </a:prstGeom>
              <a:blipFill>
                <a:blip r:embed="rId6"/>
                <a:stretch>
                  <a:fillRect l="-1628" b="-3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017366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3DEF2-373F-C54A-B01B-999DB53F9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is a difference a difference? -4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D99BAEA-E0C3-6946-B876-376CC0FC2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900" y="2662959"/>
            <a:ext cx="3523107" cy="3818083"/>
          </a:xfrm>
        </p:spPr>
        <p:txBody>
          <a:bodyPr>
            <a:normAutofit/>
          </a:bodyPr>
          <a:lstStyle/>
          <a:p>
            <a:r>
              <a:rPr lang="en-US" sz="2000" dirty="0"/>
              <a:t>Candidate 1 = 5.4</a:t>
            </a:r>
          </a:p>
          <a:p>
            <a:r>
              <a:rPr lang="en-US" sz="2000" dirty="0"/>
              <a:t>Candidate 2 = 5.6</a:t>
            </a:r>
          </a:p>
          <a:p>
            <a:r>
              <a:rPr lang="en-US" sz="2000" dirty="0"/>
              <a:t>From our Sample:</a:t>
            </a:r>
          </a:p>
          <a:p>
            <a:pPr lvl="1"/>
            <a:r>
              <a:rPr lang="en-US" sz="1600" dirty="0"/>
              <a:t>Omega Reliability = 0.88</a:t>
            </a:r>
          </a:p>
          <a:p>
            <a:pPr lvl="1"/>
            <a:r>
              <a:rPr lang="en-US" sz="1600" dirty="0"/>
              <a:t>Mean = 4.47</a:t>
            </a:r>
          </a:p>
          <a:p>
            <a:pPr lvl="1"/>
            <a:r>
              <a:rPr lang="en-US" sz="1600" dirty="0"/>
              <a:t>SD = 0.72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4DCD54-CA04-624B-9ECA-2664FB1BD8B2}"/>
                  </a:ext>
                </a:extLst>
              </p:cNvPr>
              <p:cNvSpPr txBox="1"/>
              <p:nvPr/>
            </p:nvSpPr>
            <p:spPr>
              <a:xfrm>
                <a:off x="3786793" y="2552393"/>
                <a:ext cx="6601807" cy="6708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𝑆𝐸𝐷𝑖𝑓𝑓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𝑆𝐷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2−</m:t>
                          </m:r>
                          <m:sSub>
                            <m:sSub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𝑥𝑥</m:t>
                              </m:r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− </m:t>
                          </m:r>
                          <m:sSub>
                            <m:sSub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𝑥𝑥</m:t>
                              </m:r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4DCD54-CA04-624B-9ECA-2664FB1BD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6793" y="2552393"/>
                <a:ext cx="6601807" cy="670889"/>
              </a:xfrm>
              <a:prstGeom prst="rect">
                <a:avLst/>
              </a:prstGeom>
              <a:blipFill>
                <a:blip r:embed="rId6"/>
                <a:stretch>
                  <a:fillRect l="-1927" r="-193" b="-28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8842C1-C67A-9A4E-A88F-6AB65F366BDC}"/>
                  </a:ext>
                </a:extLst>
              </p:cNvPr>
              <p:cNvSpPr txBox="1"/>
              <p:nvPr/>
            </p:nvSpPr>
            <p:spPr>
              <a:xfrm>
                <a:off x="4051300" y="4808104"/>
                <a:ext cx="4558684" cy="5505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𝑆𝐸𝑀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×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≈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𝑆𝐸𝑀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×1.414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8842C1-C67A-9A4E-A88F-6AB65F366B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1300" y="4808104"/>
                <a:ext cx="4558684" cy="550535"/>
              </a:xfrm>
              <a:prstGeom prst="rect">
                <a:avLst/>
              </a:prstGeom>
              <a:blipFill>
                <a:blip r:embed="rId7"/>
                <a:stretch>
                  <a:fillRect l="-1676" r="-1676" b="-348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5D153DA-1ED8-8F4C-8140-3FE59FF92EB2}"/>
              </a:ext>
            </a:extLst>
          </p:cNvPr>
          <p:cNvSpPr txBox="1"/>
          <p:nvPr/>
        </p:nvSpPr>
        <p:spPr>
          <a:xfrm>
            <a:off x="10388600" y="3416300"/>
            <a:ext cx="1671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Two measures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3A180F-C92B-9148-A86D-E25A1339A8BB}"/>
              </a:ext>
            </a:extLst>
          </p:cNvPr>
          <p:cNvSpPr txBox="1"/>
          <p:nvPr/>
        </p:nvSpPr>
        <p:spPr>
          <a:xfrm>
            <a:off x="10241040" y="4989307"/>
            <a:ext cx="1609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One measure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76214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3DEF2-373F-C54A-B01B-999DB53F9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is a difference a difference? -5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D99BAEA-E0C3-6946-B876-376CC0FC2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Candidate 1 = 5.4</a:t>
            </a:r>
          </a:p>
          <a:p>
            <a:r>
              <a:rPr lang="en-US" sz="2000" dirty="0"/>
              <a:t>Candidate 2 = 5.6</a:t>
            </a:r>
          </a:p>
          <a:p>
            <a:r>
              <a:rPr lang="en-US" sz="2000" dirty="0"/>
              <a:t>From our Sample:</a:t>
            </a:r>
          </a:p>
          <a:p>
            <a:pPr lvl="1"/>
            <a:r>
              <a:rPr lang="en-US" sz="1600" dirty="0"/>
              <a:t>Omega Reliability = 0.88</a:t>
            </a:r>
          </a:p>
          <a:p>
            <a:pPr lvl="1"/>
            <a:r>
              <a:rPr lang="en-US" sz="1600" dirty="0"/>
              <a:t>Mean = 4.47</a:t>
            </a:r>
          </a:p>
          <a:p>
            <a:pPr lvl="1"/>
            <a:r>
              <a:rPr lang="en-US" sz="1600" dirty="0"/>
              <a:t>SD = 0.72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8842C1-C67A-9A4E-A88F-6AB65F366BDC}"/>
                  </a:ext>
                </a:extLst>
              </p:cNvPr>
              <p:cNvSpPr txBox="1"/>
              <p:nvPr/>
            </p:nvSpPr>
            <p:spPr>
              <a:xfrm>
                <a:off x="4546600" y="2496704"/>
                <a:ext cx="4558684" cy="5505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𝑆𝐸𝑀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×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≈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𝑆𝐸𝑀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×1.414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8842C1-C67A-9A4E-A88F-6AB65F366B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6600" y="2496704"/>
                <a:ext cx="4558684" cy="550535"/>
              </a:xfrm>
              <a:prstGeom prst="rect">
                <a:avLst/>
              </a:prstGeom>
              <a:blipFill>
                <a:blip r:embed="rId5"/>
                <a:stretch>
                  <a:fillRect l="-1671" r="-1393" b="-3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16BA728-46FC-AC4B-B9AB-B7ACC74778FE}"/>
                  </a:ext>
                </a:extLst>
              </p:cNvPr>
              <p:cNvSpPr txBox="1"/>
              <p:nvPr/>
            </p:nvSpPr>
            <p:spPr>
              <a:xfrm>
                <a:off x="5168900" y="3423780"/>
                <a:ext cx="2215350" cy="4277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SEM 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SD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𝑥𝑥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16BA728-46FC-AC4B-B9AB-B7ACC7477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8900" y="3423780"/>
                <a:ext cx="2215350" cy="427746"/>
              </a:xfrm>
              <a:prstGeom prst="rect">
                <a:avLst/>
              </a:prstGeom>
              <a:blipFill>
                <a:blip r:embed="rId6"/>
                <a:stretch>
                  <a:fillRect l="-2299" b="-1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6E0D81-EB32-B240-AFD9-47719BFD9337}"/>
                  </a:ext>
                </a:extLst>
              </p:cNvPr>
              <p:cNvSpPr txBox="1"/>
              <p:nvPr/>
            </p:nvSpPr>
            <p:spPr>
              <a:xfrm>
                <a:off x="5930900" y="4228067"/>
                <a:ext cx="2511521" cy="3954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SEM =</a:t>
                </a:r>
                <a14:m>
                  <m:oMath xmlns:m="http://schemas.openxmlformats.org/officeDocument/2006/math">
                    <m: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0.72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1−0.88</m:t>
                        </m:r>
                      </m:e>
                    </m:ra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6E0D81-EB32-B240-AFD9-47719BFD9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0900" y="4228067"/>
                <a:ext cx="2511521" cy="395429"/>
              </a:xfrm>
              <a:prstGeom prst="rect">
                <a:avLst/>
              </a:prstGeom>
              <a:blipFill>
                <a:blip r:embed="rId7"/>
                <a:stretch>
                  <a:fillRect l="-2030" t="-333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1549304-C40C-1044-A942-7A77E71BA928}"/>
                  </a:ext>
                </a:extLst>
              </p:cNvPr>
              <p:cNvSpPr txBox="1"/>
              <p:nvPr/>
            </p:nvSpPr>
            <p:spPr>
              <a:xfrm>
                <a:off x="6593763" y="5032354"/>
                <a:ext cx="4455963" cy="3954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SEM =</a:t>
                </a:r>
                <a14:m>
                  <m:oMath xmlns:m="http://schemas.openxmlformats.org/officeDocument/2006/math">
                    <m: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0.72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0.12</m:t>
                        </m:r>
                      </m:e>
                    </m:rad>
                    <m:r>
                      <a:rPr lang="en-GB" b="0" i="1" smtClean="0">
                        <a:latin typeface="Cambria Math" panose="02040503050406030204" pitchFamily="18" charset="0"/>
                      </a:rPr>
                      <m:t>=0.72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0.35=0.252 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1549304-C40C-1044-A942-7A77E71BA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3763" y="5032354"/>
                <a:ext cx="4455963" cy="395429"/>
              </a:xfrm>
              <a:prstGeom prst="rect">
                <a:avLst/>
              </a:prstGeom>
              <a:blipFill>
                <a:blip r:embed="rId8"/>
                <a:stretch>
                  <a:fillRect l="-1140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6EF30E3-FA29-EA4F-B842-CD478B5DD354}"/>
              </a:ext>
            </a:extLst>
          </p:cNvPr>
          <p:cNvSpPr txBox="1"/>
          <p:nvPr/>
        </p:nvSpPr>
        <p:spPr>
          <a:xfrm>
            <a:off x="8394084" y="5651975"/>
            <a:ext cx="3302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SEDIFF = 1.414*0.252 = 0.37 </a:t>
            </a:r>
          </a:p>
        </p:txBody>
      </p:sp>
    </p:spTree>
    <p:extLst>
      <p:ext uri="{BB962C8B-B14F-4D97-AF65-F5344CB8AC3E}">
        <p14:creationId xmlns:p14="http://schemas.microsoft.com/office/powerpoint/2010/main" val="2853367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3DEF2-373F-C54A-B01B-999DB53F9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is a difference a difference? -6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D99BAEA-E0C3-6946-B876-376CC0FC2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Candidate 1 = 5.4</a:t>
            </a:r>
          </a:p>
          <a:p>
            <a:r>
              <a:rPr lang="en-US" sz="2000" dirty="0"/>
              <a:t>Candidate 2 = 5.6</a:t>
            </a:r>
          </a:p>
          <a:p>
            <a:r>
              <a:rPr lang="en-US" sz="2000" dirty="0"/>
              <a:t>Difference = 5.6 - 5.4 = 0.2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EF30E3-FA29-EA4F-B842-CD478B5DD354}"/>
              </a:ext>
            </a:extLst>
          </p:cNvPr>
          <p:cNvSpPr txBox="1"/>
          <p:nvPr/>
        </p:nvSpPr>
        <p:spPr>
          <a:xfrm>
            <a:off x="2694669" y="3858735"/>
            <a:ext cx="124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0.2&lt; 0.37 </a:t>
            </a:r>
          </a:p>
        </p:txBody>
      </p:sp>
    </p:spTree>
    <p:extLst>
      <p:ext uri="{BB962C8B-B14F-4D97-AF65-F5344CB8AC3E}">
        <p14:creationId xmlns:p14="http://schemas.microsoft.com/office/powerpoint/2010/main" val="452943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CEA01-7838-5145-AB67-5DF2A5404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Different Scores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563AB34-06B0-5C42-98A5-AC25461E4ED0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762000" y="2286000"/>
                <a:ext cx="6717223" cy="29669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𝑆𝐸𝐷𝑖𝑓𝑓</m:t>
                    </m:r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𝑆𝐷</m:t>
                    </m:r>
                    <m:r>
                      <a:rPr lang="en-GB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3600" b="0" i="1" smtClean="0">
                            <a:latin typeface="Cambria Math" panose="02040503050406030204" pitchFamily="18" charset="0"/>
                          </a:rPr>
                          <m:t>2−</m:t>
                        </m:r>
                        <m:sSub>
                          <m:sSubPr>
                            <m:ctrlP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𝑥𝑥</m:t>
                            </m:r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3600" b="0" i="1" smtClean="0">
                            <a:latin typeface="Cambria Math" panose="02040503050406030204" pitchFamily="18" charset="0"/>
                          </a:rPr>
                          <m:t>− </m:t>
                        </m:r>
                        <m:sSub>
                          <m:sSubPr>
                            <m:ctrlP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𝑥𝑥</m:t>
                            </m:r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rad>
                  </m:oMath>
                </a14:m>
                <a:endParaRPr lang="en-US" sz="3600" dirty="0"/>
              </a:p>
              <a:p>
                <a:r>
                  <a:rPr lang="en-US" sz="2000" dirty="0"/>
                  <a:t>Our Data</a:t>
                </a:r>
              </a:p>
              <a:p>
                <a:pPr lvl="1"/>
                <a:r>
                  <a:rPr lang="en-US" sz="2000" dirty="0"/>
                  <a:t>Agree = 4.75 (0.58)</a:t>
                </a:r>
              </a:p>
              <a:p>
                <a:pPr lvl="2"/>
                <a:r>
                  <a:rPr lang="en-US" sz="1600" dirty="0"/>
                  <a:t>Omega = 0.79</a:t>
                </a:r>
              </a:p>
              <a:p>
                <a:pPr lvl="1"/>
                <a:r>
                  <a:rPr lang="en-US" sz="2000" dirty="0"/>
                  <a:t>Extra = 4.27 (0.75)</a:t>
                </a:r>
              </a:p>
              <a:p>
                <a:pPr lvl="2"/>
                <a:r>
                  <a:rPr lang="en-US" sz="1600" dirty="0"/>
                  <a:t>Omega 0.88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563AB34-06B0-5C42-98A5-AC25461E4ED0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2286000"/>
                <a:ext cx="6717223" cy="2966902"/>
              </a:xfrm>
              <a:prstGeom prst="rect">
                <a:avLst/>
              </a:prstGeom>
              <a:blipFill>
                <a:blip r:embed="rId6"/>
                <a:stretch>
                  <a:fillRect l="-3977" r="-379" b="-30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5CD35DF-AFA0-8941-B10F-16BE20F3B04E}"/>
              </a:ext>
            </a:extLst>
          </p:cNvPr>
          <p:cNvSpPr txBox="1"/>
          <p:nvPr/>
        </p:nvSpPr>
        <p:spPr>
          <a:xfrm>
            <a:off x="4991100" y="4202669"/>
            <a:ext cx="5581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Candidate: Agreeableness = 4.2, Extraversion = 4.5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1059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CEA01-7838-5145-AB67-5DF2A5404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Different Scores -2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563AB34-06B0-5C42-98A5-AC25461E4ED0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762000" y="2286000"/>
                <a:ext cx="3783408" cy="31265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600" b="0" i="1" smtClean="0">
                            <a:latin typeface="Cambria Math" panose="02040503050406030204" pitchFamily="18" charset="0"/>
                          </a:rPr>
                          <m:t>𝑂𝑏𝑠𝑒𝑟𝑣𝑒𝑑</m:t>
                        </m:r>
                        <m:r>
                          <a:rPr lang="en-GB" sz="3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3600" b="0" i="1" smtClean="0">
                            <a:latin typeface="Cambria Math" panose="02040503050406030204" pitchFamily="18" charset="0"/>
                          </a:rPr>
                          <m:t>𝑀𝑒𝑎𝑛</m:t>
                        </m:r>
                      </m:num>
                      <m:den>
                        <m:r>
                          <a:rPr lang="en-GB" sz="3600" b="0" i="1" smtClean="0">
                            <a:latin typeface="Cambria Math" panose="02040503050406030204" pitchFamily="18" charset="0"/>
                          </a:rPr>
                          <m:t>𝑆𝐷</m:t>
                        </m:r>
                      </m:den>
                    </m:f>
                  </m:oMath>
                </a14:m>
                <a:endParaRPr lang="en-US" sz="3600" dirty="0"/>
              </a:p>
              <a:p>
                <a:r>
                  <a:rPr lang="en-US" sz="2000" dirty="0"/>
                  <a:t>Our Data</a:t>
                </a:r>
              </a:p>
              <a:p>
                <a:pPr lvl="1"/>
                <a:r>
                  <a:rPr lang="en-US" sz="2000" dirty="0"/>
                  <a:t>Agree = 4.75 (0.58)</a:t>
                </a:r>
              </a:p>
              <a:p>
                <a:pPr lvl="2"/>
                <a:r>
                  <a:rPr lang="en-US" sz="1600" dirty="0"/>
                  <a:t>Omega = 0.79</a:t>
                </a:r>
              </a:p>
              <a:p>
                <a:pPr lvl="1"/>
                <a:r>
                  <a:rPr lang="en-US" sz="2000" dirty="0"/>
                  <a:t>Extra = 4.27 (0.75)</a:t>
                </a:r>
              </a:p>
              <a:p>
                <a:pPr lvl="2"/>
                <a:r>
                  <a:rPr lang="en-US" sz="1600" dirty="0"/>
                  <a:t>Omega 0.88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563AB34-06B0-5C42-98A5-AC25461E4ED0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2286000"/>
                <a:ext cx="3783408" cy="3126562"/>
              </a:xfrm>
              <a:prstGeom prst="rect">
                <a:avLst/>
              </a:prstGeom>
              <a:blipFill>
                <a:blip r:embed="rId6"/>
                <a:stretch>
                  <a:fillRect l="-7047" r="-1678" b="-2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5CD35DF-AFA0-8941-B10F-16BE20F3B04E}"/>
              </a:ext>
            </a:extLst>
          </p:cNvPr>
          <p:cNvSpPr txBox="1"/>
          <p:nvPr/>
        </p:nvSpPr>
        <p:spPr>
          <a:xfrm>
            <a:off x="5196779" y="2411969"/>
            <a:ext cx="5581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Candidate: Agreeableness = 4.2, Extraversion = 4.5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A3DE5A-44C0-A047-9C0A-53E45CD8C292}"/>
              </a:ext>
            </a:extLst>
          </p:cNvPr>
          <p:cNvSpPr txBox="1"/>
          <p:nvPr/>
        </p:nvSpPr>
        <p:spPr>
          <a:xfrm>
            <a:off x="6097194" y="3551314"/>
            <a:ext cx="3912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Aggree</a:t>
            </a:r>
            <a:r>
              <a:rPr lang="en-US" dirty="0"/>
              <a:t> Z = (4.2-4.75) / 0.58= -0.95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3B7A20-0EA7-CA43-89C9-BBD8AB90234B}"/>
              </a:ext>
            </a:extLst>
          </p:cNvPr>
          <p:cNvSpPr txBox="1"/>
          <p:nvPr/>
        </p:nvSpPr>
        <p:spPr>
          <a:xfrm>
            <a:off x="6096000" y="4321327"/>
            <a:ext cx="3508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Extra Z = (4.5-4.27) / 0.75= 0.3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A9CBEF-EDA4-0043-BCF5-7F311CFD16A1}"/>
              </a:ext>
            </a:extLst>
          </p:cNvPr>
          <p:cNvSpPr txBox="1"/>
          <p:nvPr/>
        </p:nvSpPr>
        <p:spPr>
          <a:xfrm>
            <a:off x="10186541" y="3577895"/>
            <a:ext cx="11778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 = 40.05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 =53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7343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3" grpId="0"/>
      <p:bldP spid="6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CEA01-7838-5145-AB67-5DF2A5404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Different Scores -3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563AB34-06B0-5C42-98A5-AC25461E4ED0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762000" y="2286000"/>
                <a:ext cx="6717223" cy="29669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𝑆𝐸𝐷𝑖𝑓𝑓</m:t>
                    </m:r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𝑆𝐷</m:t>
                    </m:r>
                    <m:r>
                      <a:rPr lang="en-GB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3600" b="0" i="1" smtClean="0">
                            <a:latin typeface="Cambria Math" panose="02040503050406030204" pitchFamily="18" charset="0"/>
                          </a:rPr>
                          <m:t>2−</m:t>
                        </m:r>
                        <m:sSub>
                          <m:sSubPr>
                            <m:ctrlP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𝑥𝑥</m:t>
                            </m:r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3600" b="0" i="1" smtClean="0">
                            <a:latin typeface="Cambria Math" panose="02040503050406030204" pitchFamily="18" charset="0"/>
                          </a:rPr>
                          <m:t>− </m:t>
                        </m:r>
                        <m:sSub>
                          <m:sSubPr>
                            <m:ctrlP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𝑥𝑥</m:t>
                            </m:r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rad>
                  </m:oMath>
                </a14:m>
                <a:endParaRPr lang="en-US" sz="3600" dirty="0"/>
              </a:p>
              <a:p>
                <a:r>
                  <a:rPr lang="en-US" sz="2000" dirty="0"/>
                  <a:t>Our Data</a:t>
                </a:r>
              </a:p>
              <a:p>
                <a:pPr lvl="1"/>
                <a:r>
                  <a:rPr lang="en-US" sz="2000" dirty="0"/>
                  <a:t>Agree = 4.75 (0.58)</a:t>
                </a:r>
              </a:p>
              <a:p>
                <a:pPr lvl="2"/>
                <a:r>
                  <a:rPr lang="en-US" sz="1600" dirty="0"/>
                  <a:t>Omega = 0.79</a:t>
                </a:r>
              </a:p>
              <a:p>
                <a:pPr lvl="1"/>
                <a:r>
                  <a:rPr lang="en-US" sz="2000" dirty="0"/>
                  <a:t>Extra = 4.27 (0.75)</a:t>
                </a:r>
              </a:p>
              <a:p>
                <a:pPr lvl="2"/>
                <a:r>
                  <a:rPr lang="en-US" sz="1600" dirty="0"/>
                  <a:t>Omega 0.88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563AB34-06B0-5C42-98A5-AC25461E4ED0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2286000"/>
                <a:ext cx="6717223" cy="2966902"/>
              </a:xfrm>
              <a:prstGeom prst="rect">
                <a:avLst/>
              </a:prstGeom>
              <a:blipFill>
                <a:blip r:embed="rId6"/>
                <a:stretch>
                  <a:fillRect l="-3977" r="-379" b="-30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5CD35DF-AFA0-8941-B10F-16BE20F3B04E}"/>
              </a:ext>
            </a:extLst>
          </p:cNvPr>
          <p:cNvSpPr txBox="1"/>
          <p:nvPr/>
        </p:nvSpPr>
        <p:spPr>
          <a:xfrm>
            <a:off x="8086035" y="2286000"/>
            <a:ext cx="4105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Candidate: </a:t>
            </a:r>
          </a:p>
          <a:p>
            <a:r>
              <a:rPr lang="en-US" dirty="0"/>
              <a:t>Agreeableness = 4.2</a:t>
            </a:r>
          </a:p>
          <a:p>
            <a:r>
              <a:rPr lang="en-US" dirty="0"/>
              <a:t>Extraversion = 4.5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13B474-8A24-1E41-8766-639E6CA8EEFB}"/>
              </a:ext>
            </a:extLst>
          </p:cNvPr>
          <p:cNvSpPr txBox="1"/>
          <p:nvPr/>
        </p:nvSpPr>
        <p:spPr>
          <a:xfrm>
            <a:off x="7962900" y="3582981"/>
            <a:ext cx="18276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Agree T= 40.05</a:t>
            </a:r>
          </a:p>
          <a:p>
            <a:r>
              <a:rPr lang="en-US" dirty="0"/>
              <a:t>Extra T = 53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D98C4CB-A7B1-734D-B403-1969BBBE5C79}"/>
                  </a:ext>
                </a:extLst>
              </p:cNvPr>
              <p:cNvSpPr/>
              <p:nvPr/>
            </p:nvSpPr>
            <p:spPr>
              <a:xfrm>
                <a:off x="5297329" y="4850932"/>
                <a:ext cx="5440528" cy="4019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𝑆𝐸𝐷𝑖𝑓𝑓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=10×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0.88−0.79</m:t>
                          </m:r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×0.575=5.75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D98C4CB-A7B1-734D-B403-1969BBBE5C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7329" y="4850932"/>
                <a:ext cx="5440528" cy="401970"/>
              </a:xfrm>
              <a:prstGeom prst="rect">
                <a:avLst/>
              </a:prstGeom>
              <a:blipFill>
                <a:blip r:embed="rId7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685158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CEA01-7838-5145-AB67-5DF2A5404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Different Scores -4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D98C4CB-A7B1-734D-B403-1969BBBE5C79}"/>
                  </a:ext>
                </a:extLst>
              </p:cNvPr>
              <p:cNvSpPr/>
              <p:nvPr/>
            </p:nvSpPr>
            <p:spPr>
              <a:xfrm>
                <a:off x="420529" y="5524032"/>
                <a:ext cx="5440528" cy="4019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𝑆𝐸𝐷𝑖𝑓𝑓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=10×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0.88−0.79</m:t>
                          </m:r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×0.575=5.75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D98C4CB-A7B1-734D-B403-1969BBBE5C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529" y="5524032"/>
                <a:ext cx="5440528" cy="401970"/>
              </a:xfrm>
              <a:prstGeom prst="rect">
                <a:avLst/>
              </a:prstGeom>
              <a:blipFill>
                <a:blip r:embed="rId5"/>
                <a:stretch>
                  <a:fillRect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D903B60-196F-1940-9C04-981FC61B8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286000"/>
            <a:ext cx="6562035" cy="3818083"/>
          </a:xfrm>
        </p:spPr>
        <p:txBody>
          <a:bodyPr/>
          <a:lstStyle/>
          <a:p>
            <a:r>
              <a:rPr lang="en-US" dirty="0"/>
              <a:t>Agree T= 40.05</a:t>
            </a:r>
          </a:p>
          <a:p>
            <a:r>
              <a:rPr lang="en-US" dirty="0"/>
              <a:t>Extra T = 53</a:t>
            </a:r>
          </a:p>
          <a:p>
            <a:endParaRPr lang="en-US" dirty="0"/>
          </a:p>
          <a:p>
            <a:r>
              <a:rPr lang="en-US" dirty="0"/>
              <a:t>53-40.05 = 12.95 &gt; 5.75</a:t>
            </a:r>
          </a:p>
        </p:txBody>
      </p:sp>
    </p:spTree>
    <p:extLst>
      <p:ext uri="{BB962C8B-B14F-4D97-AF65-F5344CB8AC3E}">
        <p14:creationId xmlns:p14="http://schemas.microsoft.com/office/powerpoint/2010/main" val="3766545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CEA01-7838-5145-AB67-5DF2A5404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D903B60-196F-1940-9C04-981FC61B8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286000"/>
            <a:ext cx="7531100" cy="3818083"/>
          </a:xfrm>
        </p:spPr>
        <p:txBody>
          <a:bodyPr/>
          <a:lstStyle/>
          <a:p>
            <a:r>
              <a:rPr lang="en-US" dirty="0"/>
              <a:t>Standard Error of Difference accounts for multiple sources of error</a:t>
            </a:r>
          </a:p>
          <a:p>
            <a:r>
              <a:rPr lang="en-US" dirty="0"/>
              <a:t>It lets us infer whether a difference is likely down to sampling error</a:t>
            </a:r>
          </a:p>
          <a:p>
            <a:r>
              <a:rPr lang="en-US" dirty="0"/>
              <a:t>Good for comparing scores within and between individuals</a:t>
            </a:r>
          </a:p>
        </p:txBody>
      </p:sp>
    </p:spTree>
    <p:extLst>
      <p:ext uri="{BB962C8B-B14F-4D97-AF65-F5344CB8AC3E}">
        <p14:creationId xmlns:p14="http://schemas.microsoft.com/office/powerpoint/2010/main" val="18365479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a9cc30c3-3c7f-46d9-af06-053ac9c5e6c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8|19.8|2.5|3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2|40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2|7.7|4.6|4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8.3|1.5"/>
</p:tagLst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3C222B"/>
      </a:dk2>
      <a:lt2>
        <a:srgbClr val="F7F7FF"/>
      </a:lt2>
      <a:accent1>
        <a:srgbClr val="A8A254"/>
      </a:accent1>
      <a:accent2>
        <a:srgbClr val="E08D39"/>
      </a:accent2>
      <a:accent3>
        <a:srgbClr val="E97E74"/>
      </a:accent3>
      <a:accent4>
        <a:srgbClr val="E45584"/>
      </a:accent4>
      <a:accent5>
        <a:srgbClr val="E974CB"/>
      </a:accent5>
      <a:accent6>
        <a:srgbClr val="CD55E4"/>
      </a:accent6>
      <a:hlink>
        <a:srgbClr val="696FAE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ssignment_Introduction" id="{675E4C63-D87F-CB41-9785-6C56781C6DBC}" vid="{36B64CF2-1BF7-6C4A-B238-96DB0AD29C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934</TotalTime>
  <Words>441</Words>
  <Application>Microsoft Macintosh PowerPoint</Application>
  <PresentationFormat>Widescreen</PresentationFormat>
  <Paragraphs>104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Cambria Math</vt:lpstr>
      <vt:lpstr>OpenDyslexic</vt:lpstr>
      <vt:lpstr>Office Theme</vt:lpstr>
      <vt:lpstr>The Standard Error of Difference</vt:lpstr>
      <vt:lpstr>This Video</vt:lpstr>
      <vt:lpstr>When is a difference a difference?</vt:lpstr>
      <vt:lpstr>When is a difference a difference? -1</vt:lpstr>
      <vt:lpstr>When is a difference a difference? -2</vt:lpstr>
      <vt:lpstr>When is a difference a difference? -3</vt:lpstr>
      <vt:lpstr>When is a difference a difference? -4</vt:lpstr>
      <vt:lpstr>When is a difference a difference? -5</vt:lpstr>
      <vt:lpstr>When is a difference a difference? -6</vt:lpstr>
      <vt:lpstr>Two Different Scores</vt:lpstr>
      <vt:lpstr>Two Different Scores -2</vt:lpstr>
      <vt:lpstr>Two Different Scores -3</vt:lpstr>
      <vt:lpstr>Two Different Scores -4</vt:lpstr>
      <vt:lpstr>Differences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Psychological Measurement Assignment Introduction</dc:title>
  <dc:creator>Oliver Clark</dc:creator>
  <cp:lastModifiedBy>Oliver James Clark</cp:lastModifiedBy>
  <cp:revision>39</cp:revision>
  <dcterms:created xsi:type="dcterms:W3CDTF">2022-12-20T14:21:16Z</dcterms:created>
  <dcterms:modified xsi:type="dcterms:W3CDTF">2025-01-24T15:53:27Z</dcterms:modified>
</cp:coreProperties>
</file>
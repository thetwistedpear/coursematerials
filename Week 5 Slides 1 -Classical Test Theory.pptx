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custDataLst>
    <p:tags r:id="rId11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C22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–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–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–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Medium Style 3 –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 autoAdjust="0"/>
    <p:restoredTop sz="86395"/>
  </p:normalViewPr>
  <p:slideViewPr>
    <p:cSldViewPr snapToGrid="0">
      <p:cViewPr varScale="1">
        <p:scale>
          <a:sx n="109" d="100"/>
          <a:sy n="109" d="100"/>
        </p:scale>
        <p:origin x="216" y="20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OpenDyslexic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OpenDyslexic" pitchFamily="2" charset="0"/>
              </a:defRPr>
            </a:lvl1pPr>
          </a:lstStyle>
          <a:p>
            <a:fld id="{FC05BD3B-0C19-BA43-9305-A667C7C44AA1}" type="datetimeFigureOut">
              <a:rPr lang="en-US" smtClean="0"/>
              <a:pPr/>
              <a:t>1/24/25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OpenDyslexic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OpenDyslexic" pitchFamily="2" charset="0"/>
              </a:defRPr>
            </a:lvl1pPr>
          </a:lstStyle>
          <a:p>
            <a:fld id="{A9DF9A52-E7AA-274E-BC5F-4B9F64811A9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13555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OpenDyslexic" pitchFamily="2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OpenDyslexic" pitchFamily="2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OpenDyslexic" pitchFamily="2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OpenDyslexic" pitchFamily="2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OpenDyslexic" pitchFamily="2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AA0EFD-CBDC-E94F-BB67-23ADA42E4F5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5399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AA0EFD-CBDC-E94F-BB67-23ADA42E4F5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7766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AA0EFD-CBDC-E94F-BB67-23ADA42E4F5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2041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AA0EFD-CBDC-E94F-BB67-23ADA42E4F5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5419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AA0EFD-CBDC-E94F-BB67-23ADA42E4F5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2925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ircular object with white lines&#10;&#10;Description automatically generated">
            <a:extLst>
              <a:ext uri="{FF2B5EF4-FFF2-40B4-BE49-F238E27FC236}">
                <a16:creationId xmlns:a16="http://schemas.microsoft.com/office/drawing/2014/main" id="{4A7C4AB4-2226-877A-A741-9660D649365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9351" y="92839"/>
            <a:ext cx="4103670" cy="3970145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07BD72D-4468-42DA-AAD4-824AF1E958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70579" y="2353847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F7200C-8136-4D89-AE4E-DF01E080D34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770579" y="5017382"/>
            <a:ext cx="9144000" cy="1170317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Oliver Clark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16EE59-C605-4FC4-8DCE-2DCA4DBBD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E1341-B99E-4425-867C-20CDAA12EFFF}" type="datetimeFigureOut">
              <a:rPr lang="en-GB" smtClean="0"/>
              <a:t>24/01/2025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FEBE32-E7D3-4A97-ADE8-C618F2030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A4E75-6A35-40B9-893D-78B43606C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07E87-4409-4E3F-A74A-A02CB7A223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9306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03BA7-E404-4B33-AD54-0074EA038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B4E91D-9017-46E9-9BF2-C4F948DC62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752448-9514-43B9-BC41-887E6AFEE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E1341-B99E-4425-867C-20CDAA12EFFF}" type="datetimeFigureOut">
              <a:rPr lang="en-GB" smtClean="0"/>
              <a:t>24/01/2025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EE6A80-EA59-47AD-A41E-538B33576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CB3234-7D2E-46F7-8327-202B978CD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07E87-4409-4E3F-A74A-A02CB7A223E8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Picture 6" descr="A circular object with white lines&#10;&#10;Description automatically generated">
            <a:extLst>
              <a:ext uri="{FF2B5EF4-FFF2-40B4-BE49-F238E27FC236}">
                <a16:creationId xmlns:a16="http://schemas.microsoft.com/office/drawing/2014/main" id="{ACB5BE63-1070-5828-DB08-80EF18AE26A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4156" y="211561"/>
            <a:ext cx="1687601" cy="163269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4705181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9D04E-4539-4D3B-BCEA-45CBDC7EC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66C06E-DDFF-4493-A23F-D8899A325D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0E6A4D-5164-4501-9B9F-1150C2B2C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E1341-B99E-4425-867C-20CDAA12EFFF}" type="datetimeFigureOut">
              <a:rPr lang="en-GB" smtClean="0"/>
              <a:t>24/01/2025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617E47-1A39-4249-A872-5EE8C05A0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4E793F-7595-433B-AD8D-C1395B11E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07E87-4409-4E3F-A74A-A02CB7A223E8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Picture 6" descr="A circular object with white lines&#10;&#10;Description automatically generated">
            <a:extLst>
              <a:ext uri="{FF2B5EF4-FFF2-40B4-BE49-F238E27FC236}">
                <a16:creationId xmlns:a16="http://schemas.microsoft.com/office/drawing/2014/main" id="{78A8D8A8-3760-E72E-4A0B-F6DD81A7018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4156" y="211561"/>
            <a:ext cx="1687601" cy="163269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149574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72C60-3B53-43A2-BD19-80ECB6830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7237BF-BB59-4B96-B97F-C1872A23E2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9A6DDE-EE83-453D-B43C-FE29E12397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4C7E41-CC20-4EF1-8F66-66F2AFF16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E1341-B99E-4425-867C-20CDAA12EFFF}" type="datetimeFigureOut">
              <a:rPr lang="en-GB" smtClean="0"/>
              <a:t>24/01/2025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F6C11F-44D3-46E2-9EFD-DD21308EB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5C4CAE-B5D7-4649-A496-09C3918A7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07E87-4409-4E3F-A74A-A02CB7A223E8}" type="slidenum">
              <a:rPr lang="en-GB" smtClean="0"/>
              <a:t>‹#›</a:t>
            </a:fld>
            <a:endParaRPr lang="en-GB"/>
          </a:p>
        </p:txBody>
      </p:sp>
      <p:pic>
        <p:nvPicPr>
          <p:cNvPr id="8" name="Picture 7" descr="A circular object with white lines&#10;&#10;Description automatically generated">
            <a:extLst>
              <a:ext uri="{FF2B5EF4-FFF2-40B4-BE49-F238E27FC236}">
                <a16:creationId xmlns:a16="http://schemas.microsoft.com/office/drawing/2014/main" id="{680EB741-5C9E-C01B-5510-C578F2AAA48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4156" y="211561"/>
            <a:ext cx="1687601" cy="163269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8774810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54559-5BBF-4738-B3B9-D842DF691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485661-AD42-4BA1-8574-622AB23100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7D0CB3-C366-4197-B185-903F343FAD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D84F56-CD47-4BD6-9DAF-DA190A3529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2F6631-47C6-4377-86A9-5454547555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98FCF21-BE5A-4BA4-87FD-101182610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E1341-B99E-4425-867C-20CDAA12EFFF}" type="datetimeFigureOut">
              <a:rPr lang="en-GB" smtClean="0"/>
              <a:t>24/01/2025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959CDD-4F0F-4047-B958-E3E9E1610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812010-94B5-45F2-A10A-F7F98236B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07E87-4409-4E3F-A74A-A02CB7A223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3004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AFBE3-AA76-486B-A0E7-9C1214F6E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C833AE-1C45-4F61-9A10-E73F37D96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E1341-B99E-4425-867C-20CDAA12EFFF}" type="datetimeFigureOut">
              <a:rPr lang="en-GB" smtClean="0"/>
              <a:t>24/01/2025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628810-CB23-4E4F-8FDC-C3C0AAC1C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DDE41A-F878-481B-8321-7D5C5E1A2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07E87-4409-4E3F-A74A-A02CB7A223E8}" type="slidenum">
              <a:rPr lang="en-GB" smtClean="0"/>
              <a:t>‹#›</a:t>
            </a:fld>
            <a:endParaRPr lang="en-GB"/>
          </a:p>
        </p:txBody>
      </p:sp>
      <p:pic>
        <p:nvPicPr>
          <p:cNvPr id="6" name="Picture 5" descr="A circular object with white lines&#10;&#10;Description automatically generated">
            <a:extLst>
              <a:ext uri="{FF2B5EF4-FFF2-40B4-BE49-F238E27FC236}">
                <a16:creationId xmlns:a16="http://schemas.microsoft.com/office/drawing/2014/main" id="{5A1DFD74-A80F-910F-0704-A344DE9BC97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4156" y="211561"/>
            <a:ext cx="1687601" cy="163269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31476950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423B54-0818-42D3-A18F-1044E2854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E1341-B99E-4425-867C-20CDAA12EFFF}" type="datetimeFigureOut">
              <a:rPr lang="en-GB" smtClean="0"/>
              <a:t>24/01/2025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E074FD-1BD2-4C54-A702-61DBF9CD4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0C3D79-B06A-4B4A-9782-4B51E6367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07E87-4409-4E3F-A74A-A02CB7A223E8}" type="slidenum">
              <a:rPr lang="en-GB" smtClean="0"/>
              <a:t>‹#›</a:t>
            </a:fld>
            <a:endParaRPr lang="en-GB"/>
          </a:p>
        </p:txBody>
      </p:sp>
      <p:pic>
        <p:nvPicPr>
          <p:cNvPr id="5" name="Picture 4" descr="A circular object with white lines&#10;&#10;Description automatically generated">
            <a:extLst>
              <a:ext uri="{FF2B5EF4-FFF2-40B4-BE49-F238E27FC236}">
                <a16:creationId xmlns:a16="http://schemas.microsoft.com/office/drawing/2014/main" id="{CE17AF69-3FD1-31D2-193A-153C422533F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4156" y="211561"/>
            <a:ext cx="1687601" cy="163269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35089114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59BE6-FB20-4BD5-B673-EEC9EED80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8026810" cy="131402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D24033-DAA2-477E-B89E-87D1BEED41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6400" y="1984376"/>
            <a:ext cx="5953999" cy="415882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530806-A187-4FD1-B6E1-ABAD11EDB4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77D340-DB2B-4962-893F-8FBDE2070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E1341-B99E-4425-867C-20CDAA12EFFF}" type="datetimeFigureOut">
              <a:rPr lang="en-GB" smtClean="0"/>
              <a:t>24/01/2025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E47502-31F9-495F-8D6F-E4E74AF23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D39CF9-D98F-47CB-B740-350B02F45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07E87-4409-4E3F-A74A-A02CB7A223E8}" type="slidenum">
              <a:rPr lang="en-GB" smtClean="0"/>
              <a:t>‹#›</a:t>
            </a:fld>
            <a:endParaRPr lang="en-GB"/>
          </a:p>
        </p:txBody>
      </p:sp>
      <p:pic>
        <p:nvPicPr>
          <p:cNvPr id="8" name="Picture 7" descr="A circular object with white lines&#10;&#10;Description automatically generated">
            <a:extLst>
              <a:ext uri="{FF2B5EF4-FFF2-40B4-BE49-F238E27FC236}">
                <a16:creationId xmlns:a16="http://schemas.microsoft.com/office/drawing/2014/main" id="{27833AAA-54E0-8712-78E6-30EDB549AEE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4156" y="211561"/>
            <a:ext cx="1687601" cy="163269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28049872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D2FE2-2354-4F01-8978-A88CE6EA7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D2C77B-BA2E-4DE3-BB24-A0997ADEA7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715784"/>
            <a:ext cx="5265630" cy="414526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07FD6E-B79E-4B72-AA4D-E981A123DF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9D6E00-9933-4D24-B3E2-A0855E641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E1341-B99E-4425-867C-20CDAA12EFFF}" type="datetimeFigureOut">
              <a:rPr lang="en-GB" smtClean="0"/>
              <a:t>24/01/2025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78DC2C-D2BE-4909-BD59-1844F390C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3754A0-D6B5-4310-AB22-66B0F59E4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07E87-4409-4E3F-A74A-A02CB7A223E8}" type="slidenum">
              <a:rPr lang="en-GB" smtClean="0"/>
              <a:t>‹#›</a:t>
            </a:fld>
            <a:endParaRPr lang="en-GB"/>
          </a:p>
        </p:txBody>
      </p:sp>
      <p:pic>
        <p:nvPicPr>
          <p:cNvPr id="8" name="Picture 7" descr="A circular object with white lines&#10;&#10;Description automatically generated">
            <a:extLst>
              <a:ext uri="{FF2B5EF4-FFF2-40B4-BE49-F238E27FC236}">
                <a16:creationId xmlns:a16="http://schemas.microsoft.com/office/drawing/2014/main" id="{343C1C28-31FC-7DFF-7C65-AE518C998DC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4156" y="211561"/>
            <a:ext cx="1687601" cy="163269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2505941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FA6A8-1B67-4290-B5EF-E1E9EA5DF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72DF21-83D0-4DEF-905D-B307033EC5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B56E0C-4F9C-4774-944E-4291C49E9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E1341-B99E-4425-867C-20CDAA12EFFF}" type="datetimeFigureOut">
              <a:rPr lang="en-GB" smtClean="0"/>
              <a:t>24/01/2025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34483D-D8C5-4C6A-9C2D-8AA2CD0E9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1FE050-EF35-4019-A575-5B29875EA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07E87-4409-4E3F-A74A-A02CB7A223E8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Picture 6" descr="A circular object with white lines&#10;&#10;Description automatically generated">
            <a:extLst>
              <a:ext uri="{FF2B5EF4-FFF2-40B4-BE49-F238E27FC236}">
                <a16:creationId xmlns:a16="http://schemas.microsoft.com/office/drawing/2014/main" id="{C3FD54C5-2E84-AC4F-D304-9CF1B97A4E1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4156" y="211561"/>
            <a:ext cx="1687601" cy="163269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1850961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14797E-40C8-4F6D-8FB3-D2595A23D1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32E659-1E59-4639-8A0E-E5AC143820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1B94A8-07B0-4094-B09E-91BBBA8C0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E1341-B99E-4425-867C-20CDAA12EFFF}" type="datetimeFigureOut">
              <a:rPr lang="en-GB" smtClean="0"/>
              <a:t>24/01/2025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2D45F6-1CFF-4F0B-9BB5-99BF1DAC0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023458-4002-4BBA-A15F-08F248305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07E87-4409-4E3F-A74A-A02CB7A223E8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Picture 6" descr="A circular object with white lines&#10;&#10;Description automatically generated">
            <a:extLst>
              <a:ext uri="{FF2B5EF4-FFF2-40B4-BE49-F238E27FC236}">
                <a16:creationId xmlns:a16="http://schemas.microsoft.com/office/drawing/2014/main" id="{07874D33-BDDE-4404-C30F-4E518184D9B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4156" y="211561"/>
            <a:ext cx="1687601" cy="163269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522016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204C48-90AD-4082-A973-54F3AFF16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F04DC4-4134-40A9-9E9A-B2D6C86F8D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3A872A-9D63-4359-9E00-7DC5351026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OpenDyslexic" pitchFamily="2" charset="0"/>
              </a:defRPr>
            </a:lvl1pPr>
          </a:lstStyle>
          <a:p>
            <a:fld id="{FF5E1341-B99E-4425-867C-20CDAA12EFFF}" type="datetimeFigureOut">
              <a:rPr lang="en-GB" smtClean="0"/>
              <a:pPr/>
              <a:t>24/01/2025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7363D1-1F10-41E8-B8F8-0BE1A2402B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OpenDyslexic" pitchFamily="2" charset="0"/>
              </a:defRPr>
            </a:lvl1pPr>
          </a:lstStyle>
          <a:p>
            <a:r>
              <a:rPr lang="en-GB" dirty="0"/>
              <a:t>Psychological Measurement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10BB29-C30B-4E91-826A-CE834FFA3F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OpenDyslexic" pitchFamily="2" charset="0"/>
              </a:defRPr>
            </a:lvl1pPr>
          </a:lstStyle>
          <a:p>
            <a:fld id="{56307E87-4409-4E3F-A74A-A02CB7A223E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0679954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OpenDyslexic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OpenDyslexic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OpenDyslexic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OpenDyslexic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OpenDyslexic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OpenDyslexic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E4273-4562-7044-BCF3-B512E48B0E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16251" y="4054475"/>
            <a:ext cx="6373812" cy="984885"/>
          </a:xfrm>
        </p:spPr>
        <p:txBody>
          <a:bodyPr wrap="square" anchor="ctr">
            <a:normAutofit fontScale="90000"/>
          </a:bodyPr>
          <a:lstStyle/>
          <a:p>
            <a:r>
              <a:rPr lang="en-US" sz="4800" dirty="0"/>
              <a:t>Classical Test Theory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186690-EBDF-5A43-96CD-6A3B0C2193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40575" y="549275"/>
            <a:ext cx="4498976" cy="984885"/>
          </a:xfrm>
        </p:spPr>
        <p:txBody>
          <a:bodyPr anchor="ctr">
            <a:normAutofit/>
          </a:bodyPr>
          <a:lstStyle/>
          <a:p>
            <a:pPr algn="r"/>
            <a:r>
              <a:rPr lang="en-US" dirty="0">
                <a:solidFill>
                  <a:schemeClr val="tx1">
                    <a:alpha val="60000"/>
                  </a:schemeClr>
                </a:solidFill>
              </a:rPr>
              <a:t>Dr Oliver Clark [Oli]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71C3043-BF6F-414C-BFAD-FD07B6BBC6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9239" b="22092"/>
          <a:stretch/>
        </p:blipFill>
        <p:spPr>
          <a:xfrm>
            <a:off x="20" y="5533291"/>
            <a:ext cx="12191980" cy="1324707"/>
          </a:xfrm>
          <a:custGeom>
            <a:avLst/>
            <a:gdLst/>
            <a:ahLst/>
            <a:cxnLst/>
            <a:rect l="l" t="t" r="r" b="b"/>
            <a:pathLst>
              <a:path w="12192000" h="4774564">
                <a:moveTo>
                  <a:pt x="0" y="0"/>
                </a:moveTo>
                <a:lnTo>
                  <a:pt x="12192000" y="0"/>
                </a:lnTo>
                <a:lnTo>
                  <a:pt x="12192000" y="4774564"/>
                </a:lnTo>
                <a:lnTo>
                  <a:pt x="0" y="4774564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139523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C2D11-D23C-E847-9546-553F59094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Week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AC009B-3555-124F-A2E1-89FDD9EAC1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FFFFFF"/>
                </a:solidFill>
              </a:rPr>
              <a:t>True Score vs Observed Scores</a:t>
            </a:r>
          </a:p>
          <a:p>
            <a:r>
              <a:rPr lang="en-US" dirty="0">
                <a:solidFill>
                  <a:srgbClr val="FFFFFF"/>
                </a:solidFill>
              </a:rPr>
              <a:t>Systematic and Unsystematic Error</a:t>
            </a:r>
          </a:p>
          <a:p>
            <a:r>
              <a:rPr lang="en-US" dirty="0">
                <a:solidFill>
                  <a:srgbClr val="FFFFFF"/>
                </a:solidFill>
              </a:rPr>
              <a:t>Standard Error of Measurement</a:t>
            </a:r>
          </a:p>
          <a:p>
            <a:r>
              <a:rPr lang="en-US" dirty="0">
                <a:solidFill>
                  <a:srgbClr val="FFFFFF"/>
                </a:solidFill>
              </a:rPr>
              <a:t>Confidence Intervals</a:t>
            </a:r>
          </a:p>
        </p:txBody>
      </p:sp>
    </p:spTree>
    <p:extLst>
      <p:ext uri="{BB962C8B-B14F-4D97-AF65-F5344CB8AC3E}">
        <p14:creationId xmlns:p14="http://schemas.microsoft.com/office/powerpoint/2010/main" val="3844027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C2D11-D23C-E847-9546-553F59094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Video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AC009B-3555-124F-A2E1-89FDD9EAC1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solidFill>
                  <a:srgbClr val="FFFFFF"/>
                </a:solidFill>
              </a:rPr>
              <a:t>Classical Test Theory</a:t>
            </a:r>
          </a:p>
          <a:p>
            <a:pPr lvl="1"/>
            <a:r>
              <a:rPr lang="en-US" sz="2800" dirty="0">
                <a:solidFill>
                  <a:srgbClr val="FFFFFF"/>
                </a:solidFill>
              </a:rPr>
              <a:t>True Scores</a:t>
            </a:r>
          </a:p>
          <a:p>
            <a:pPr lvl="1"/>
            <a:r>
              <a:rPr lang="en-US" sz="2800" dirty="0">
                <a:solidFill>
                  <a:srgbClr val="FFFFFF"/>
                </a:solidFill>
              </a:rPr>
              <a:t>Observed Scores</a:t>
            </a:r>
          </a:p>
          <a:p>
            <a:pPr lvl="1"/>
            <a:r>
              <a:rPr lang="en-US" sz="2800" dirty="0">
                <a:solidFill>
                  <a:srgbClr val="FFFFFF"/>
                </a:solidFill>
              </a:rPr>
              <a:t>Error Scores</a:t>
            </a:r>
          </a:p>
        </p:txBody>
      </p:sp>
    </p:spTree>
    <p:extLst>
      <p:ext uri="{BB962C8B-B14F-4D97-AF65-F5344CB8AC3E}">
        <p14:creationId xmlns:p14="http://schemas.microsoft.com/office/powerpoint/2010/main" val="13062058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C2D11-D23C-E847-9546-553F59094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Classical Test Theory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AC009B-3555-124F-A2E1-89FDD9EAC1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solidFill>
                  <a:srgbClr val="FFFFFF"/>
                </a:solidFill>
              </a:rPr>
              <a:t>Lord &amp; Novick (1968)</a:t>
            </a:r>
          </a:p>
          <a:p>
            <a:r>
              <a:rPr lang="en-GB" sz="2400" dirty="0">
                <a:solidFill>
                  <a:srgbClr val="FFFFFF"/>
                </a:solidFill>
              </a:rPr>
              <a:t>Based on two theorems:</a:t>
            </a:r>
          </a:p>
          <a:p>
            <a:pPr lvl="1"/>
            <a:r>
              <a:rPr lang="en-GB" sz="2400" dirty="0">
                <a:solidFill>
                  <a:srgbClr val="FFFFFF"/>
                </a:solidFill>
              </a:rPr>
              <a:t>The </a:t>
            </a:r>
            <a:r>
              <a:rPr lang="en-GB" sz="2400" i="1" dirty="0">
                <a:solidFill>
                  <a:srgbClr val="FFFFFF"/>
                </a:solidFill>
              </a:rPr>
              <a:t>True Score</a:t>
            </a:r>
            <a:r>
              <a:rPr lang="en-GB" sz="2400" dirty="0">
                <a:solidFill>
                  <a:srgbClr val="FFFFFF"/>
                </a:solidFill>
              </a:rPr>
              <a:t> is the expectation of the observed score for a person. </a:t>
            </a:r>
          </a:p>
          <a:p>
            <a:pPr lvl="1"/>
            <a:r>
              <a:rPr lang="en-GB" sz="2400" dirty="0">
                <a:solidFill>
                  <a:srgbClr val="FFFFFF"/>
                </a:solidFill>
              </a:rPr>
              <a:t>The </a:t>
            </a:r>
            <a:r>
              <a:rPr lang="en-GB" sz="2400" i="1" dirty="0">
                <a:solidFill>
                  <a:srgbClr val="FFFFFF"/>
                </a:solidFill>
              </a:rPr>
              <a:t>Error Score</a:t>
            </a:r>
            <a:r>
              <a:rPr lang="en-GB" sz="2400" dirty="0">
                <a:solidFill>
                  <a:srgbClr val="FFFFFF"/>
                </a:solidFill>
              </a:rPr>
              <a:t> is the difference between the </a:t>
            </a:r>
            <a:r>
              <a:rPr lang="en-GB" sz="2400" i="1" dirty="0">
                <a:solidFill>
                  <a:srgbClr val="FFFFFF"/>
                </a:solidFill>
              </a:rPr>
              <a:t>True Score </a:t>
            </a:r>
            <a:r>
              <a:rPr lang="en-GB" sz="2400" dirty="0">
                <a:solidFill>
                  <a:srgbClr val="FFFFFF"/>
                </a:solidFill>
              </a:rPr>
              <a:t>and the </a:t>
            </a:r>
            <a:r>
              <a:rPr lang="en-GB" sz="2400" i="1" dirty="0">
                <a:solidFill>
                  <a:srgbClr val="FFFFFF"/>
                </a:solidFill>
              </a:rPr>
              <a:t>Observed Score</a:t>
            </a:r>
            <a:r>
              <a:rPr lang="en-GB" sz="2400" dirty="0">
                <a:solidFill>
                  <a:srgbClr val="FFFFFF"/>
                </a:solidFill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262653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C2D11-D23C-E847-9546-553F59094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Classical Test Theory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AC009B-3555-124F-A2E1-89FDD9EAC1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800" dirty="0">
                <a:solidFill>
                  <a:srgbClr val="FFFFFF"/>
                </a:solidFill>
              </a:rPr>
              <a:t>True Score = Observed Score ± Error</a:t>
            </a:r>
          </a:p>
          <a:p>
            <a:r>
              <a:rPr lang="en-GB" sz="2400" dirty="0">
                <a:solidFill>
                  <a:srgbClr val="FFFFFF"/>
                </a:solidFill>
              </a:rPr>
              <a:t>Observed Score = True Score ± Error</a:t>
            </a:r>
          </a:p>
          <a:p>
            <a:endParaRPr lang="en-GB" sz="24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98748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C2D11-D23C-E847-9546-553F59094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Classical Test Theory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AC009B-3555-124F-A2E1-89FDD9EAC1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GB" sz="2800" dirty="0">
                <a:solidFill>
                  <a:srgbClr val="FFFFFF"/>
                </a:solidFill>
              </a:rPr>
              <a:t>Relies on Reliability to connect Observed Scores to True Scores </a:t>
            </a:r>
          </a:p>
          <a:p>
            <a:pPr marL="457200" lvl="1" indent="0">
              <a:buNone/>
            </a:pPr>
            <a:r>
              <a:rPr lang="en-GB" sz="2200" dirty="0">
                <a:solidFill>
                  <a:srgbClr val="FFFFFF"/>
                </a:solidFill>
              </a:rPr>
              <a:t>• Test-Retest </a:t>
            </a:r>
          </a:p>
          <a:p>
            <a:pPr marL="457200" lvl="1" indent="0">
              <a:buNone/>
            </a:pPr>
            <a:r>
              <a:rPr lang="en-GB" sz="2800" dirty="0">
                <a:solidFill>
                  <a:srgbClr val="FFFFFF"/>
                </a:solidFill>
              </a:rPr>
              <a:t>• </a:t>
            </a:r>
            <a:r>
              <a:rPr lang="en-GB" sz="2200" dirty="0">
                <a:solidFill>
                  <a:srgbClr val="FFFFFF"/>
                </a:solidFill>
              </a:rPr>
              <a:t>Parallel Forms</a:t>
            </a:r>
          </a:p>
          <a:p>
            <a:pPr lvl="1"/>
            <a:r>
              <a:rPr lang="en-GB" sz="2200" dirty="0">
                <a:solidFill>
                  <a:srgbClr val="FFFFFF"/>
                </a:solidFill>
              </a:rPr>
              <a:t>Split Half </a:t>
            </a:r>
          </a:p>
          <a:p>
            <a:r>
              <a:rPr lang="en-GB" sz="2800" dirty="0">
                <a:solidFill>
                  <a:srgbClr val="FFFFFF"/>
                </a:solidFill>
              </a:rPr>
              <a:t> Internal Consistency </a:t>
            </a:r>
          </a:p>
          <a:p>
            <a:pPr lvl="1"/>
            <a:r>
              <a:rPr lang="en-GB" sz="2200" dirty="0" err="1">
                <a:solidFill>
                  <a:srgbClr val="FFFFFF"/>
                </a:solidFill>
              </a:rPr>
              <a:t>Kurder</a:t>
            </a:r>
            <a:r>
              <a:rPr lang="en-GB" sz="2200" dirty="0">
                <a:solidFill>
                  <a:srgbClr val="FFFFFF"/>
                </a:solidFill>
              </a:rPr>
              <a:t> Richardson 20</a:t>
            </a:r>
          </a:p>
          <a:p>
            <a:pPr lvl="1"/>
            <a:r>
              <a:rPr lang="en-GB" sz="2200" dirty="0">
                <a:solidFill>
                  <a:srgbClr val="FFFFFF"/>
                </a:solidFill>
              </a:rPr>
              <a:t>Cronbach’s Alpha</a:t>
            </a:r>
          </a:p>
          <a:p>
            <a:pPr lvl="1"/>
            <a:r>
              <a:rPr lang="en-GB" sz="2200" dirty="0">
                <a:solidFill>
                  <a:srgbClr val="FFFFFF"/>
                </a:solidFill>
              </a:rPr>
              <a:t> Omega </a:t>
            </a:r>
          </a:p>
          <a:p>
            <a:pPr marL="0" indent="0">
              <a:buNone/>
            </a:pPr>
            <a:endParaRPr lang="en-GB" sz="28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2613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C2D11-D23C-E847-9546-553F59094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Classical Test Theory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AC009B-3555-124F-A2E1-89FDD9EAC1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GB" sz="2800" dirty="0">
                <a:solidFill>
                  <a:srgbClr val="FFFFFF"/>
                </a:solidFill>
              </a:rPr>
              <a:t>Reliability -&gt; Within-Subject Variation</a:t>
            </a:r>
          </a:p>
          <a:p>
            <a:pPr marL="0" indent="0">
              <a:buNone/>
            </a:pPr>
            <a:r>
              <a:rPr lang="en-GB" sz="2800" dirty="0">
                <a:solidFill>
                  <a:srgbClr val="FFFFFF"/>
                </a:solidFill>
              </a:rPr>
              <a:t>Standard Deviation -&gt; Between-Subject Variation</a:t>
            </a:r>
          </a:p>
          <a:p>
            <a:pPr marL="0" indent="0">
              <a:buNone/>
            </a:pPr>
            <a:r>
              <a:rPr lang="en-GB" sz="2800" dirty="0">
                <a:solidFill>
                  <a:srgbClr val="FFFFFF"/>
                </a:solidFill>
              </a:rPr>
              <a:t>Both of these elements influence the Error Score</a:t>
            </a:r>
          </a:p>
        </p:txBody>
      </p:sp>
    </p:spTree>
    <p:extLst>
      <p:ext uri="{BB962C8B-B14F-4D97-AF65-F5344CB8AC3E}">
        <p14:creationId xmlns:p14="http://schemas.microsoft.com/office/powerpoint/2010/main" val="877267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C2D11-D23C-E847-9546-553F59094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Classical Test Theory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AC009B-3555-124F-A2E1-89FDD9EAC1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GB" sz="2800" dirty="0">
                <a:solidFill>
                  <a:srgbClr val="FFFFFF"/>
                </a:solidFill>
              </a:rPr>
              <a:t>From reliability and norm information, we can calculate the range of likely observed scores from a test taker: </a:t>
            </a:r>
          </a:p>
          <a:p>
            <a:pPr lvl="1"/>
            <a:r>
              <a:rPr lang="en-GB" sz="2200" dirty="0">
                <a:solidFill>
                  <a:srgbClr val="FFFFFF"/>
                </a:solidFill>
              </a:rPr>
              <a:t> Standard Error of Measurement 	</a:t>
            </a:r>
          </a:p>
          <a:p>
            <a:pPr lvl="1"/>
            <a:r>
              <a:rPr lang="en-GB" sz="2200" dirty="0">
                <a:solidFill>
                  <a:srgbClr val="FFFFFF"/>
                </a:solidFill>
              </a:rPr>
              <a:t>Confidence intervals </a:t>
            </a:r>
          </a:p>
          <a:p>
            <a:pPr lvl="1"/>
            <a:r>
              <a:rPr lang="en-GB" sz="2200" dirty="0">
                <a:solidFill>
                  <a:srgbClr val="FFFFFF"/>
                </a:solidFill>
              </a:rPr>
              <a:t>Standard Error of Difference</a:t>
            </a:r>
          </a:p>
          <a:p>
            <a:pPr lvl="1"/>
            <a:endParaRPr lang="en-GB" sz="2200" dirty="0">
              <a:solidFill>
                <a:srgbClr val="FFFFFF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733524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GUID" val="a9cc30c3-3c7f-46d9-af06-053ac9c5e6c6"/>
</p:tagLst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FFFFF"/>
      </a:lt1>
      <a:dk2>
        <a:srgbClr val="3C222B"/>
      </a:dk2>
      <a:lt2>
        <a:srgbClr val="F7F7FF"/>
      </a:lt2>
      <a:accent1>
        <a:srgbClr val="A8A254"/>
      </a:accent1>
      <a:accent2>
        <a:srgbClr val="E08D39"/>
      </a:accent2>
      <a:accent3>
        <a:srgbClr val="E97E74"/>
      </a:accent3>
      <a:accent4>
        <a:srgbClr val="E45584"/>
      </a:accent4>
      <a:accent5>
        <a:srgbClr val="E974CB"/>
      </a:accent5>
      <a:accent6>
        <a:srgbClr val="CD55E4"/>
      </a:accent6>
      <a:hlink>
        <a:srgbClr val="696FAE"/>
      </a:hlink>
      <a:folHlink>
        <a:srgbClr val="7F7F7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ssignment_Introduction" id="{675E4C63-D87F-CB41-9785-6C56781C6DBC}" vid="{36B64CF2-1BF7-6C4A-B238-96DB0AD29C3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902</TotalTime>
  <Words>187</Words>
  <Application>Microsoft Macintosh PowerPoint</Application>
  <PresentationFormat>Widescreen</PresentationFormat>
  <Paragraphs>43</Paragraphs>
  <Slides>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OpenDyslexic</vt:lpstr>
      <vt:lpstr>Office Theme</vt:lpstr>
      <vt:lpstr>Classical Test Theory</vt:lpstr>
      <vt:lpstr>This Week</vt:lpstr>
      <vt:lpstr>This Video</vt:lpstr>
      <vt:lpstr>Classical Test Theory</vt:lpstr>
      <vt:lpstr>Classical Test Theory</vt:lpstr>
      <vt:lpstr>Classical Test Theory</vt:lpstr>
      <vt:lpstr>Classical Test Theory</vt:lpstr>
      <vt:lpstr>Classical Test Theory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Psychological Measurement Assignment Introduction</dc:title>
  <dc:creator>Oliver Clark</dc:creator>
  <cp:lastModifiedBy>Oliver James Clark</cp:lastModifiedBy>
  <cp:revision>35</cp:revision>
  <dcterms:created xsi:type="dcterms:W3CDTF">2022-12-20T14:21:16Z</dcterms:created>
  <dcterms:modified xsi:type="dcterms:W3CDTF">2025-01-24T15:21:36Z</dcterms:modified>
</cp:coreProperties>
</file>